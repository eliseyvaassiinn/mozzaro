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Титульний слайд: Веб-платформа заказа пиццы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01/19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1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7132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MOZZARO - Современная пиццерия в цифровом формате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6766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Комплексный высоконагруженный веб-застосунок для мгновенного просмотра меню, интерактивного взаимодействия с каталогом товаров, формирования корзины и оформления онлайн-заказов в реальном времени.</a:t>
            </a:r>
          </a:p>
          <a:p/>
          <a:p>
            <a:r>
              <a:t>• Разработчик: Команда CrustCode</a:t>
            </a:r>
          </a:p>
          <a:p>
            <a:r>
              <a:t>• Статус проекта: Production Ready (v1.0.4)</a:t>
            </a:r>
          </a:p>
          <a:p>
            <a:r>
              <a:t>• Демо-версия: https://mozzaro-1.onrender.com</a:t>
            </a:r>
          </a:p>
          <a:p>
            <a:r>
              <a:t>• Исходный код: github.com/eliseyvaassiinn/Mozzaro</a:t>
            </a:r>
          </a:p>
          <a:p/>
          <a:p>
            <a:r>
              <a:t>Краткая аннотация и бизнес-цели:</a:t>
            </a:r>
          </a:p>
          <a:p>
            <a:r>
              <a:t>• Сократить время оформления заказа до 45 секунд и устранить отказы клиентов.</a:t>
            </a:r>
          </a:p>
          <a:p>
            <a:r>
              <a:t>• Автоматический расчет стоимости, онлайн-проверка наличия ингредиентов.</a:t>
            </a:r>
          </a:p>
          <a:p>
            <a:r>
              <a:t>• Покрытие автотестами уровня &gt;85%, встроенный CI/CD пайплайн.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887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NET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55448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Backend Core API &amp; Clean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83464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9260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Blazor WASM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29184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Single Page Application (SPA)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57200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663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Neon Postgres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02920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Cloud Relational Database Serverless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Проблема, контекст рынка и комплексное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02/19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2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Проблемы существующих систем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Высокий коэффициент оттока (Bounce Rate &gt; 60%):</a:t>
            </a:r>
          </a:p>
          <a:p>
            <a:r>
              <a:t>Медленные монолитные сайты перезагружают страницу при добавлении товара в корзину.</a:t>
            </a:r>
          </a:p>
          <a:p/>
          <a:p>
            <a:r>
              <a:t>• Сложный и запутанный UI:</a:t>
            </a:r>
          </a:p>
          <a:p>
            <a:r>
              <a:t>Отсутствие визуализации состава пиццы, перегруженные формы и неработающая адаптивность.</a:t>
            </a:r>
          </a:p>
          <a:p/>
          <a:p>
            <a:r>
              <a:t>• Низкая надежность Backend:</a:t>
            </a:r>
          </a:p>
          <a:p>
            <a:r>
              <a:t>Отсутствие четкой архитектуры ведет к потере заказов во время пиковых нагрузок.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Комплексное решение Mozzaro Ecosystem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Мгновенная SPA-реактивность:</a:t>
            </a:r>
          </a:p>
          <a:p>
            <a:r>
              <a:t>Blazor WebAssembly загружает UI в браузер клиенту за один раз.</a:t>
            </a:r>
          </a:p>
          <a:p/>
          <a:p>
            <a:r>
              <a:t>• Дизайн-система Italian Gourmet Tech:</a:t>
            </a:r>
          </a:p>
          <a:p>
            <a:r>
              <a:t>Интерфейс с плавающими подписями полей (Floating Labels) и удобной корзиной.</a:t>
            </a:r>
          </a:p>
          <a:p/>
          <a:p>
            <a:r>
              <a:t>• Отказоустойчивая Onion-архитектура:</a:t>
            </a:r>
          </a:p>
          <a:p>
            <a:r>
              <a:t>Безопасная обработка заказов, исключающая потерю транзакций.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Целевая аудитория, сегментация и User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03/19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3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Персона 1: Алексей (19 лет)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32004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Студент / Молодёжь</a:t>
            </a:r>
          </a:p>
          <a:p>
            <a:r>
              <a:t>• Боль: Долгая загрузка, нечеткие цены.</a:t>
            </a:r>
          </a:p>
          <a:p>
            <a:r>
              <a:t>• Потребность: Быстрый поиск, заказы в 2 клика.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09728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1887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Персона 2: Марина (32 года)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463040"/>
            <a:ext cx="32004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Менеджер проектов</a:t>
            </a:r>
          </a:p>
          <a:p>
            <a:r>
              <a:t>• Боль: Забытые ингредиенты, отсутствие чека.</a:t>
            </a:r>
          </a:p>
          <a:p>
            <a:r>
              <a:t>• Потребность: Просмотр состава, повтор заказа.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09728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1887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Персона 3: Сергей (45 лет)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63040"/>
            <a:ext cx="32004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Новый клиент</a:t>
            </a:r>
          </a:p>
          <a:p>
            <a:r>
              <a:t>• Боль: Недоверие, непонятный статус.</a:t>
            </a:r>
          </a:p>
          <a:p>
            <a:r>
              <a:t>• Потребность: Прозрачные цены, статус доставки.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420624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Сегмент пользователей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Главный фактор выбора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Реализованная фича Mozzaro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Mobile-First клиенты (65%)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Скорость работы и верстка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Адаптивная сетка, touch-friendly кнопки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Постоянные покупатели (25%)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Быстрота повторного заказа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Личный кабинет, история заказов, JWT-сессия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Администрация ресторанов (10%)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Управление ассортиментом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Admin Portal, CRUD контроллеры пицц и категорий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Состав команды CrustCode и распределение ролей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04/19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4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Backend Architect &amp; Lead 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Проектирование Clean / Onion Architecture и структуры проекта.</a:t>
            </a:r>
          </a:p>
          <a:p>
            <a:r>
              <a:t>• CQRS сценарии, MediatR, Entity Framework Core и Dapper.</a:t>
            </a:r>
          </a:p>
          <a:p>
            <a:r>
              <a:t>• Настройка JWT Authentication, BCrypt хеширования и CORS.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Frontend &amp; UI/UX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Blazor WebAssembly компоненты и интерактивные формы.</a:t>
            </a:r>
          </a:p>
          <a:p>
            <a:r>
              <a:t>• Floating Label Inputs, адаптивная CSS-сетка.</a:t>
            </a:r>
          </a:p>
          <a:p>
            <a:r>
              <a:t>• Оптимизация состояния корзины (State Management) на WASM.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4903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QA &amp; Test Automation Specialist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23360"/>
            <a:ext cx="5029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Тестовая стратегия (Unit &amp; Integration tests).</a:t>
            </a:r>
          </a:p>
          <a:p>
            <a:r>
              <a:t>• Автотесты xUnit, Moq, FluentAssertions.</a:t>
            </a:r>
          </a:p>
          <a:p>
            <a:r>
              <a:t>• Метрики покрытия кодом (Coverlet, FineCodeCoverage).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74903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DevOps &amp; Database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23360"/>
            <a:ext cx="5029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Схема PostgreSQL на платформе Neon.tech.</a:t>
            </a:r>
          </a:p>
          <a:p>
            <a:r>
              <a:t>• Docker-контейнеры, CI/CD в GitHub Actions.</a:t>
            </a:r>
          </a:p>
          <a:p>
            <a:r>
              <a:t>• Деплоймент и мониторинг сервисов на Render.com.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Agile-процесс, Jira Metrics и управление спринтами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05/19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5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4 Спринта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0972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142 Story 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35.5 Velocity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0972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68 Тикетов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1520" y="237744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248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Epic Name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Ключевые тикеты / Задачи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Story Points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Статус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EP-1: Core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Onion Layering, DI, Entity Configs, Base Repo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32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EP-2: Auth &amp; Security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JWT Token Engine, Login/Reg UI, Roles, Claims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24 SP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EP-3: Catalog &amp; Cart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Pizza Grid, Filtering, Cart State, Modals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38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EP-4: QA &amp; CI/CD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xUnit suite, Coverlet integration, Render Pipeline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28 SP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EP-5: Admin &amp;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Order Management UI, Swagger XML, SRS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20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UI/UX и Дизайн-система Italian Gourmet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06/19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6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Crimson Red (#C8102E)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3200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Основной акцентный цвет бренда.</a:t>
            </a:r>
          </a:p>
          <a:p>
            <a:r>
              <a:t>Используется для CTA-кнопок («В корзину», «Оформить»), цен, бейджей акций и ключевых элементов внимания.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09728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1887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Forest Green (#006437)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554480"/>
            <a:ext cx="3200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Вторичный фирменный цвет.</a:t>
            </a:r>
          </a:p>
          <a:p>
            <a:r>
              <a:t>Отображает успехи операций, статусы заказов («Доставлено»), вегетарианские позиции и элементы доверия.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09728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1887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Warm Cream (#FAF8F5)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554480"/>
            <a:ext cx="3200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Теплый фоновый оттенок.</a:t>
            </a:r>
          </a:p>
          <a:p>
            <a:r>
              <a:t>Заменяет агрессивный чистый белый цвет, снижая нагрузку на зрение пользователя и подчеркивая премиальность.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Обзор компонентов UI и интерфейсных экранов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07/19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7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Экран 1: Главный каталог пицц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Категории товара (Классические, Острые, Вегетарианские).</a:t>
            </a:r>
          </a:p>
          <a:p>
            <a:r>
              <a:t>• Поиск по названию ингредиента в реальном времени.</a:t>
            </a:r>
          </a:p>
          <a:p>
            <a:r>
              <a:t>• Счетчик товаров прямо на карточке.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Экран 2: Виджет Корзины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Плавающая панель с мгновенным подсчетом суммы.</a:t>
            </a:r>
          </a:p>
          <a:p>
            <a:r>
              <a:t>• Изменение количества позиций без перезагрузки.</a:t>
            </a:r>
          </a:p>
          <a:p>
            <a:r>
              <a:t>• Промокоды и расчет стоимости доставки.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4903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Экран 3: Формы Входа / Регистрации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23360"/>
            <a:ext cx="5029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Минималистичный дизайн с Floating Labels.</a:t>
            </a:r>
          </a:p>
          <a:p>
            <a:r>
              <a:t>• Индикация надежности пароля и валидация email.</a:t>
            </a:r>
          </a:p>
          <a:p>
            <a:r>
              <a:t>• Запоминание сессии через LocalStorage JWT.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74903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Экран 4: Личный кабинет и заказы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23360"/>
            <a:ext cx="5029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Таблица истории заказов с уникальными GUID.</a:t>
            </a:r>
          </a:p>
          <a:p>
            <a:r>
              <a:t>• Текущий статус («Готовится», «В пути», «Выполнен»).</a:t>
            </a:r>
          </a:p>
          <a:p>
            <a:r>
              <a:t>• Детальный чек с перечнем всех купленных пицц.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Архитектура Onion / Clean Architecture (Слоевая модель)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08/19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8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Закон управления зависимостями (Dependency Rule)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[Web API / Blazor Client]  --&gt;  [Application Layer]  --&gt;  [DOMAIN LAYER (CORE)]  &lt;--  [Infrastructure]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52120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1. Domain &amp; 2. Application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4846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Domain Layer (Ядро):</a:t>
            </a:r>
          </a:p>
          <a:p>
            <a:r>
              <a:t>Не имеет внешних зависимостей. Содержит доменные сущности (Pizza, Order, User), Value Objects, Domain Events и Enums.</a:t>
            </a:r>
          </a:p>
          <a:p/>
          <a:p>
            <a:r>
              <a:t>• Application Layer (Прикладной слой):</a:t>
            </a:r>
          </a:p>
          <a:p>
            <a:r>
              <a:t>Реализует сценарии использования (Use Cases), DTO, FluentValidation валидаторы и CQRS команды.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77440"/>
            <a:ext cx="52120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3. Infrastructure &amp; 4. Web API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40"/>
            <a:ext cx="4846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Infrastructure Layer:</a:t>
            </a:r>
          </a:p>
          <a:p>
            <a:r>
              <a:t>Детали реализации: Entity Framework Core DbContext, SQL-запросы Dapper, настройки PostgreSQL и BCrypt hasher.</a:t>
            </a:r>
          </a:p>
          <a:p/>
          <a:p>
            <a:r>
              <a:t>• Web API &amp; Presentation Layer:</a:t>
            </a:r>
          </a:p>
          <a:p>
            <a:r>
              <a:t>RESTful контроллеры, Swagger конфигурация, JWT Middleware и SPA клиент на Blazor WebAssembly.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Паттерны проектирования: CQRS, DI и 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09/19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9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Dependency Injection &amp; CQRS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Dependency Injection (DI):</a:t>
            </a:r>
          </a:p>
          <a:p>
            <a:r>
              <a:t>• AddScoped: DbContext, Repositories, UnitOfWork.</a:t>
            </a:r>
          </a:p>
          <a:p>
            <a:r>
              <a:t>• AddTransient: Validators, Command Handlers.</a:t>
            </a:r>
          </a:p>
          <a:p>
            <a:r>
              <a:t>• AddSingleton: Mapper Configurations, Cache.</a:t>
            </a:r>
          </a:p>
          <a:p/>
          <a:p>
            <a:r>
              <a:t>CQRS Разделение:</a:t>
            </a:r>
          </a:p>
          <a:p>
            <a:r>
              <a:t>• Queries (Чтение): Для максимальной скорости используются облегченные SQL-запросы через Dapper.</a:t>
            </a:r>
          </a:p>
          <a:p>
            <a:r>
              <a:t>• Commands (Запись): Выполняются через EF Core с обеспечением ACID-транзакционности.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Pipeline Middleware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HTTP Request Pipeline Flow:</a:t>
            </a:r>
          </a:p>
          <a:p/>
          <a:p>
            <a:r>
              <a:t>1. Global Exception Handler Middleware</a:t>
            </a:r>
          </a:p>
          <a:p>
            <a:r>
              <a:t>2. CORS Policy Middleware</a:t>
            </a:r>
          </a:p>
          <a:p>
            <a:r>
              <a:t>3. Authentication (JWT Bearer) Middleware</a:t>
            </a:r>
          </a:p>
          <a:p>
            <a:r>
              <a:t>4. Authorization &amp; Claims Middleware</a:t>
            </a:r>
          </a:p>
          <a:p>
            <a:r>
              <a:t>5. Endpoint Execution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База данных PostgreSQL &amp; Neon Serverless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10/19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10 of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09728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Имя таблицы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Первичный ключ (PK)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Внешние ключи (FK)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Описание хранимых данных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Pizzas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Id (Guid)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CategoryId -&gt; Categories.Id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Наименование, описание, цена, URL фото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Categories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Id (int)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Категории меню (Классические, Острые)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Id (Guid)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Email, BCrypt PasswordHash, Role (Admin/Client)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Id (Guid)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UserId -&gt; Users.Id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Общая сумма, адрес, телефон, OrderStatus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OrderItems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Id (Guid)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OrderId, PizzaId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Количество, цена за единицу в момент заказа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46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Neon Serverless Postgres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Авто-масштабирование ресурсов (Autoscaling), ветвление БД (Branching) и доступность 99.9%.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7548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846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Индексы и оптимизация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B-Tree индексы на CategoryId, Email и UserId. Время JOIN запросов &lt; 5ms.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Безопасность: JWT Аутентификация и Хеширование BCrypt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11/19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11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10698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Жизненный цикл JWT Токена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3327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Пользователь отправляет POST /api/v1/auth/login c Email и Паролем.</a:t>
            </a:r>
          </a:p>
          <a:p>
            <a:r>
              <a:t>2. Сервер извлекает User из БД и проверяет пароль с помощью BCrypt.Verify.</a:t>
            </a:r>
          </a:p>
          <a:p>
            <a:r>
              <a:t>3. Генерируется JWT, содержащий Claims: sub, email, role и exp (8 часов).</a:t>
            </a:r>
          </a:p>
          <a:p>
            <a:r>
              <a:t>4. Токен подписывается ключом HMAC-SHA256 и передается клиенту.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3291840"/>
          <a:ext cx="106984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7086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Роль (UserRole)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Права на просмотр меню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Права на оформление заказа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CRUD управление каталогом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Guest (Аноним)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Разрешено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Запрещено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Запрещено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Разрешено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Разрешено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Запрещено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Разрешено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Разрешено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Разрешено (Full Access)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Документация REST API (OpenAPI v3 / Swagger UI)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12/19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12 of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09728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38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HTTP Метод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Endpoint Route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Доступ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Назначение операции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/api/v1/pizzas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Получить полный список пицц с фильтрацией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/api/v1/pizzas/{id}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Получить детальную информацию о пицце по GUID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/api/v1/auth/login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Аутентификация пользователя и выдача 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/api/v1/orders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Создать новый заказ на основе элементов корзины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/api/v1/admin/pizzas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Добавить новую позицию пиццы в каталог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Стратегия тестирования и изоляция (Unit &amp; Integration)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13/19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13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Модульное тестирование (Unit Tests)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Тестирование изолированных бизнес-правил в слоях Domain и Application.</a:t>
            </a:r>
          </a:p>
          <a:p>
            <a:r>
              <a:t>• Все зависимости изолируются с помощью библиотеки Moq.</a:t>
            </a:r>
          </a:p>
          <a:p>
            <a:r>
              <a:t>• xUnit: Основной фреймворк запуска тестов.</a:t>
            </a:r>
          </a:p>
          <a:p>
            <a:r>
              <a:t>• FluentAssertions: Читаемый синтаксис проверок результатов.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Интеграционное тестирование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Проверка взаимодействия Web API контроллеров, EF Core DbContext и базы данных в памяти (In-Memory Postgres).</a:t>
            </a:r>
          </a:p>
          <a:p>
            <a:r>
              <a:t>• Использование WebApplicationFactory.</a:t>
            </a:r>
          </a:p>
          <a:p>
            <a:r>
              <a:t>• Проверка HTTP статусов и формата ответов ProblemDetails.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Отчет по тестированию и метрики покрытия кодом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14/19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14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87.4%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0972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124 Tests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100% Pass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0972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18.2s CI Time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1520" y="237744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74980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Архитектурный слой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Покрытие строк (Line)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Покрытие ветвлений (Branch)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Статус Quality Gate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Mozzaro.Domain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96.2%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Passed (Target &gt;90%)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Mozzaro.Application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89.5%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85.4%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Passed (Target &gt;85%)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Mozzaro.Infrastructure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81.0%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78.2%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Passed (Target &gt;80%)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Mozzaro.API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83.1%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Passed (Target &gt;80%)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Облачный деплоймент и GitHub Actions CI/CD Пайплайн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15/19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15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Этапы CI/CD Пайплайна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Push event: Разработчик делает коммит в ветку main на GitHub.</a:t>
            </a:r>
          </a:p>
          <a:p>
            <a:r>
              <a:t>2. Build Step: GitHub Actions поднимает runner ubuntu-latest и собирает solution.</a:t>
            </a:r>
          </a:p>
          <a:p>
            <a:r>
              <a:t>3. Test Step: Автоматический запуск dotnet test. Если тест падает — деплой отменяется.</a:t>
            </a:r>
          </a:p>
          <a:p>
            <a:r>
              <a:t>4. Docker Build: Сборка оптимизированного multi-stage Dockerfile образа.</a:t>
            </a:r>
          </a:p>
          <a:p>
            <a:r>
              <a:t>5. Deploy to Render: Отправка webhook на Render.com.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212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Docker Multi-Stage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48463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Сборка проходит в 2 этапа: SDK образ для компиляции и легкий ASP.NET Runtime образ для контейнера. Размер образа сократился с 850MB до 110MB.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566160"/>
            <a:ext cx="5212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657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Инфраструктура Render &amp; Neon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31920"/>
            <a:ext cx="48463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API и Blazor WASM развернуты в облаке Render Web Services с поддержкой SSL/TLS, а БД работает на независимом кластере Neon PostgreSQL.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Спецификация требований SRS (MOSCOW Приоритетизация)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16/19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16 of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09728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7184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Категория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Код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Описание функциональности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Статус реализации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FR-01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Интерактивный каталог пицц с категориями и ценами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FR-02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Корзина заказов с динамическим перерасчетом суммы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FR-03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Регистрация и JWT-авторизация пользователей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Should Have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FR-04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История заказов в личном кабинете пользователя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Should Have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FR-05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Панель администратора для CRUD управления меню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Could Have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FR-06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Конструктор пиццы (добавление бортиков)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Backlog (v2.0)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Технические показатели и структура решения (.sln)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17/19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17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&lt; 120 ms Latency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0972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1.2s LCP 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100/100 Best Practices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0972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6 Projects (.sln)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1520" y="237744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3557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Имя проекта в Solution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Тип проекта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Назначение и содержимое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Mozzaro.Domain.csproj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Class 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Сущности, Value Objects, интерфейсы, Enums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Mozzaro.Application.csproj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Class Library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CQRS Handlers, DTOs, FluentValidation, Services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Mozzaro.Infrastructure.csproj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Class 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EF Core DbContext, Dapper, PostgreSQL configs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Mozzaro.API.csproj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Web API (.NET 9)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Controllers, Middleware, Swagger, Program.cs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Mozzaro.Client.csproj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Blazor WASM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UI Components, Razor Pages, State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Mozzaro.Tests.csproj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xUnit Test Project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Unit &amp; Integration автотесты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Дорожная карта развития платформы (Roadmap 2.0)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18/19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18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Квартал 1: Эквайринг и Оплата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Интеграция платежных шлюзов Stripe и LiqPay.</a:t>
            </a:r>
          </a:p>
          <a:p>
            <a:r>
              <a:t>• Поддержка Apple Pay и Google Pay.</a:t>
            </a:r>
          </a:p>
          <a:p>
            <a:r>
              <a:t>• Автоматическая генерация фискальных чеков.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Квартал 2: Mobile PWA &amp; 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Преобразование Blazor WASM в Progressive Web App (PWA).</a:t>
            </a:r>
          </a:p>
          <a:p>
            <a:r>
              <a:t>• Офлайн-режим просмотра меню.</a:t>
            </a:r>
          </a:p>
          <a:p>
            <a:r>
              <a:t>• Push-уведомления о статусе готовности пиццы.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4903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Квартал 3: Real-Time Трекинг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23360"/>
            <a:ext cx="5029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Внедрение SignalR для двухстороннего обмена.</a:t>
            </a:r>
          </a:p>
          <a:p>
            <a:r>
              <a:t>• Отображение курьера на интерактивной карте.</a:t>
            </a:r>
          </a:p>
          <a:p>
            <a:r>
              <a:t>• Чат с курьером в реальном времени.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74903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Квартал 4: AI Recommendation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23360"/>
            <a:ext cx="5029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Персонализированные рекомендации.</a:t>
            </a:r>
          </a:p>
          <a:p>
            <a:r>
              <a:t>• Умный динамический ценообразователь.</a:t>
            </a:r>
          </a:p>
          <a:p>
            <a:r>
              <a:t>• Автоматизированный закуп ингредиентов.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Заключение, Q&amp;A и Контактная информация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01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102E"/>
                </a:solidFill>
              </a:defRPr>
            </a:pPr>
            <a:r>
              <a:t>SLIDE 19/19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0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MOZZARO Platform | CrustCode Team • Slide 19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10698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t>Дякуємо за увагу!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Платформа Mozzaro готова к промышленной эксплуатации и открыта для вопросов, демонстрации кода и дальнейшего развития.</a:t>
            </a:r>
          </a:p>
          <a:p/>
          <a:p>
            <a:r>
              <a:t>• Онлайн Демо-версия: https://mozzaro-1.onrender.com</a:t>
            </a:r>
          </a:p>
          <a:p>
            <a:r>
              <a:t>• Исходный код на GitHub: github.com/eliseyvaassiinn/Mozzaro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65176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Роль в команде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Имя / Никнейм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Зона ответственности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Backend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eliseyvaassiinn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Clean Architecture, API &amp; DB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Frontend Lead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CrustCode Team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Blazor WASM, UI/UX Design System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QA &amp; DevOps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CrustCode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xUnit, Coverlet, Render &amp; Neon 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