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1675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Play-bold.fntdata"/><Relationship Id="rId12" Type="http://schemas.openxmlformats.org/officeDocument/2006/relationships/slide" Target="slides/slide7.xml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757c1a34b8e0d7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757c1a34b8e0d78c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57c1a34b8e0d78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757c1a34b8e0d78c_1_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757c1a34b8e0d78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757c1a34b8e0d78c_1_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757c1a34b8e0d78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757c1a34b8e0d78c_1_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57c1a34b8e0d78c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757c1a34b8e0d78c_1_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757c1a34b8e0d78c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757c1a34b8e0d78c_1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757c1a34b8e0d78c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757c1a34b8e0d78c_1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757c1a34b8e0d78c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757c1a34b8e0d78c_1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757c1a34b8e0d78c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h757c1a34b8e0d78c_1_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757c1a34b8e0d78c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757c1a34b8e0d78c_1_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757c1a34b8e0d78c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757c1a34b8e0d78c_1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757c1a34b8e0d78c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h757c1a34b8e0d78c_1_1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757c1a34b8e0d78c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757c1a34b8e0d78c_1_2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757c1a34b8e0d78c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757c1a34b8e0d78c_1_2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757c1a34b8e0d78c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h757c1a34b8e0d78c_1_2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757c1a34b8e0d78c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h757c1a34b8e0d78c_1_2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757c1a34b8e0d78c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h757c1a34b8e0d78c_1_2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mozzaro-1.onrender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eliseyvaassiinn/Mozzaro/blob/master/Mozzaro_Arch.tx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LWDDzf68XQW9FFIHdpSN-DFZvvSqm7SJCQ3WmYlnyc/edit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eliseyvasin.atlassian.net/jira/software/projects/MOZ/boards/2/report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eliseyvaassiinn/Mozzaro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ozzaro-1.onrender.com" TargetMode="External"/><Relationship Id="rId4" Type="http://schemas.openxmlformats.org/officeDocument/2006/relationships/hyperlink" Target="https://github.com/eliseyvaassiinn/Mozzaro" TargetMode="External"/><Relationship Id="rId5" Type="http://schemas.openxmlformats.org/officeDocument/2006/relationships/hyperlink" Target="https://eliseyvasin.atlassian.net/jira/software/projects/MOZ/boards/2/reports" TargetMode="External"/><Relationship Id="rId6" Type="http://schemas.openxmlformats.org/officeDocument/2006/relationships/hyperlink" Target="https://docs.google.com/document/d/1LWDDzf68XQW9FFIHdpSN-DFZvvSqm7SJCQ3WmYlnyc/edit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eliseyvaassiinn/Mozzar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LWDDzf68XQW9FFIHdpSN-DFZvvSqm7SJCQ3WmYlnyc/edit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eliseyvaassiinn/Mozzaro" TargetMode="External"/><Relationship Id="rId4" Type="http://schemas.openxmlformats.org/officeDocument/2006/relationships/hyperlink" Target="https://github.com/eliseyvaassiinn/Mozzaro/blob/master/Mozzaro_Arch.tx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mozzaro-1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594360"/>
            <a:ext cx="7132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CRUSTCO</a:t>
            </a:r>
            <a:r>
              <a:rPr b="1" lang="en-US" sz="1300">
                <a:solidFill>
                  <a:srgbClr val="EEF4FA"/>
                </a:solidFill>
              </a:rPr>
              <a:t>R</a:t>
            </a: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E  /  ЦИФРОВОЙ ПРОДУКТ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14173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MOZZARO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7240" y="27432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Заказ пиццы —</a:t>
            </a:r>
            <a:br>
              <a:rPr b="0" i="0" lang="en-US" sz="28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просто и удобно.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7240" y="5166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Веб-приложение  •  .NET 9  •  PostgreSQL</a:t>
            </a:r>
            <a:endParaRPr/>
          </a:p>
        </p:txBody>
      </p:sp>
      <p:pic>
        <p:nvPicPr>
          <p:cNvPr descr="mozzaro_site_qr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1417320"/>
            <a:ext cx="2148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412480" y="37947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ОТСКАНИРУЙТЕ QR-КОД</a:t>
            </a:r>
            <a:endParaRPr/>
          </a:p>
        </p:txBody>
      </p:sp>
      <p:sp>
        <p:nvSpPr>
          <p:cNvPr id="90" name="Google Shape;90;p13">
            <a:hlinkClick r:id="rId4"/>
          </p:cNvPr>
          <p:cNvSpPr txBox="1"/>
          <p:nvPr/>
        </p:nvSpPr>
        <p:spPr>
          <a:xfrm>
            <a:off x="8229600" y="45720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mozzaro-1.onrender.com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7240" y="6263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ПРЕЗЕНТАЦИЯ ПРОЕКТА  •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Идея проекта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40080" y="141732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41247" y="1554480"/>
            <a:ext cx="3118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1247" y="1984248"/>
            <a:ext cx="3118104" cy="2834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Заказ пиццы может требовать лишних действий.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4343400" y="141732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544568" y="1554480"/>
            <a:ext cx="3118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44568" y="1984248"/>
            <a:ext cx="3118104" cy="2834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Веб-сайт для выбора пиццы и оформления заказа.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8046720" y="141732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247888" y="1554480"/>
            <a:ext cx="3118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247888" y="1984248"/>
            <a:ext cx="3118104" cy="2834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Простой путь от меню до истории заказов.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31520" y="55321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Меню  →  Выбор  →  Корзина  →  Заказ  →  История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Возможности для клиента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31520" y="1417320"/>
            <a:ext cx="5166360" cy="16002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32688" y="155448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01 / КАТАЛОГ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32688" y="1984248"/>
            <a:ext cx="476402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Каталог пицц и их описание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355080" y="1417320"/>
            <a:ext cx="5166360" cy="16002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556248" y="155448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02 / КОРЗИНА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56248" y="1984248"/>
            <a:ext cx="476402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Добавление товаров и изменение количества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31520" y="3474720"/>
            <a:ext cx="5166360" cy="16002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32688" y="3611879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03 / ОФОРМЛЕНИЕ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2688" y="4041648"/>
            <a:ext cx="476402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Вход в аккаунт и адрес доставки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355080" y="3474720"/>
            <a:ext cx="5166360" cy="16002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556248" y="3611879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04 / ИСТОРИЯ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56248" y="4041648"/>
            <a:ext cx="476402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Просмотр оформленных заказов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Интерфейс будет показан в работающем сайте.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04  /  АРХИТЕКТУРА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Clean / Onion Architecture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154680" y="1389888"/>
            <a:ext cx="5715000" cy="621792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E8CA"/>
                </a:solidFill>
                <a:latin typeface="Play"/>
                <a:ea typeface="Play"/>
                <a:cs typeface="Play"/>
                <a:sym typeface="Play"/>
              </a:rPr>
              <a:t>WEB API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HTTP-запросы и точка входа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154680" y="2468880"/>
            <a:ext cx="5715000" cy="621792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E8CA"/>
                </a:solidFill>
                <a:latin typeface="Play"/>
                <a:ea typeface="Play"/>
                <a:cs typeface="Play"/>
                <a:sym typeface="Play"/>
              </a:rPr>
              <a:t>APPLICATION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Сценарии и бизнес-операции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154680" y="3547872"/>
            <a:ext cx="5715000" cy="621792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4E8CA"/>
                </a:solidFill>
                <a:latin typeface="Play"/>
                <a:ea typeface="Play"/>
                <a:cs typeface="Play"/>
                <a:sym typeface="Play"/>
              </a:rPr>
              <a:t>DOMAIN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Основные сущности и правила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49808" y="3749039"/>
            <a:ext cx="2331720" cy="841248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4E8CA"/>
                </a:solidFill>
                <a:latin typeface="Play"/>
                <a:ea typeface="Play"/>
                <a:cs typeface="Play"/>
                <a:sym typeface="Play"/>
              </a:rPr>
              <a:t>INFRASTRUCTURE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Реализация внешних зависимостей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9107424" y="3749039"/>
            <a:ext cx="2286000" cy="841248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E8CA"/>
                </a:solidFill>
                <a:latin typeface="Play"/>
                <a:ea typeface="Play"/>
                <a:cs typeface="Play"/>
                <a:sym typeface="Play"/>
              </a:rPr>
              <a:t>ХРАНИЛИЩЕ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PostgreSQL / Neon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Полная схема проекта</a:t>
            </a:r>
            <a:endParaRPr/>
          </a:p>
        </p:txBody>
      </p:sp>
      <p:sp>
        <p:nvSpPr>
          <p:cNvPr id="141" name="Google Shape;141;p16">
            <a:hlinkClick r:id="rId3"/>
          </p:cNvPr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E8CA"/>
                </a:solidFill>
                <a:latin typeface="Arial"/>
                <a:ea typeface="Arial"/>
                <a:cs typeface="Arial"/>
                <a:sym typeface="Arial"/>
              </a:rPr>
              <a:t>Открыть Mozzaro_Arch.txt на GitHub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568756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Схема упрощена для презентации; детали — в архитектурном файле.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79008" y="2039112"/>
            <a:ext cx="438912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4E8C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79008" y="3118104"/>
            <a:ext cx="438912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4E8C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Модель базы данных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85800" y="137160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86968" y="150876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Пользователь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86968" y="193852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Учётные записи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526280" y="137160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4727448" y="150876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Пицца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727448" y="193852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Название, цена, описание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8366760" y="137160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567928" y="150876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Категория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567928" y="193852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Группировка меню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85800" y="32461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86968" y="3383279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Ингредиент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86968" y="381304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Список ингредиентов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526280" y="32461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4727448" y="3383279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Корзина / Элемент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727448" y="381304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Выбранные товары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8366760" y="32461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8567928" y="3383279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Заказ / Позиция заказа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567928" y="3813048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Оформленные заказы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7240" y="55778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PostgreSQL  •  Neon  •  Entity Framework Core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PostgreSQL: реляционные связи и целостность данных; Neon — облачное размещение.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06  /  ИНСТРУМЕНТЫ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Технологии проекта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685800" y="14173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C#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.NET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Язык и платформа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566160" y="14173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ASP.NET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446520" y="14173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Blazor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Web UI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Клиентский интерфейс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9326880" y="14173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PostgreSQL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Neon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База данных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85800" y="32461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EF Core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Доступ к данным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3566160" y="32461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xUnit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Moq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Тестирование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446520" y="32461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Git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Контроль версий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9326880" y="3246120"/>
            <a:ext cx="214884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Render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Размещение сайта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Требования и объём проекта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31520" y="1417320"/>
            <a:ext cx="5166360" cy="35661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932688" y="155448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ФУНКЦИОНАЛЬНЫЕ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32688" y="1984248"/>
            <a:ext cx="4764024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Регистрация и вход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Каталог и описание пицц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Корзина и изменение количества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Оформление и адрес доставки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История заказов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6263640" y="1417320"/>
            <a:ext cx="5166360" cy="35661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464807" y="155448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НЕФУНКЦИОНАЛЬНЫЕ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464807" y="1984248"/>
            <a:ext cx="4764024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Разделение слоёв архитектуры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Хранение данных в PostgreSQL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Взаимодействие через REST API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Проект автоматических тестов</a:t>
            </a:r>
            <a:b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Контроль версий исходного кода</a:t>
            </a:r>
            <a:endParaRPr/>
          </a:p>
        </p:txBody>
      </p:sp>
      <p:sp>
        <p:nvSpPr>
          <p:cNvPr id="199" name="Google Shape;199;p19">
            <a:hlinkClick r:id="rId3"/>
          </p:cNvPr>
          <p:cNvSpPr txBox="1"/>
          <p:nvPr/>
        </p:nvSpPr>
        <p:spPr>
          <a:xfrm>
            <a:off x="822960" y="5623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SRS-документ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Управление проектом в Jira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pic>
        <p:nvPicPr>
          <p:cNvPr descr="f3e8e4e1-c59d-483f-ac4b-6a029f680fe9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80160"/>
            <a:ext cx="7406640" cy="364432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8275320" y="1417320"/>
            <a:ext cx="32004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8476488" y="1554480"/>
            <a:ext cx="2798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476488" y="1984248"/>
            <a:ext cx="2798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Задач в Jira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8275320" y="2971800"/>
            <a:ext cx="32004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8476488" y="3108960"/>
            <a:ext cx="2798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СПРИНТЫ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476488" y="3538728"/>
            <a:ext cx="2798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Статусы и распределение задач</a:t>
            </a:r>
            <a:endParaRPr/>
          </a:p>
        </p:txBody>
      </p:sp>
      <p:sp>
        <p:nvSpPr>
          <p:cNvPr id="214" name="Google Shape;214;p20">
            <a:hlinkClick r:id="rId4"/>
          </p:cNvPr>
          <p:cNvSpPr txBox="1"/>
          <p:nvPr/>
        </p:nvSpPr>
        <p:spPr>
          <a:xfrm>
            <a:off x="8412480" y="4983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отчёт Jira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Роли в команде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685800" y="1508760"/>
            <a:ext cx="516636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09725" lIns="228600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01  Backend и API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Логика приложения, сервисы и обработка запросов.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6217920" y="1508760"/>
            <a:ext cx="516636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09725" lIns="228600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02  База данных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Модели данных, PostgreSQL и работа с EF Core.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685800" y="3429000"/>
            <a:ext cx="516636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09725" lIns="228600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03  Frontend и UX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Интерфейс Blazor, страницы и удобство пользователя.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6217920" y="3429000"/>
            <a:ext cx="516636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09725" lIns="228600" spcFirstLastPara="1" rIns="1828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04  Тестирование и документация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Автотесты, проверка функций и техническая документация.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Роли показывают основные зоны ответственности в проекте.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Тестирование и покрытие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pic>
        <p:nvPicPr>
          <p:cNvPr descr="d5f46a04-3968-4ce5-b16b-9916f7b36e04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650" y="894901"/>
            <a:ext cx="5572351" cy="574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7452360" y="1417320"/>
            <a:ext cx="3931920" cy="12801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7653528" y="1554480"/>
            <a:ext cx="3529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53528" y="1984248"/>
            <a:ext cx="35295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Общее покрытие кода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7452360" y="2880360"/>
            <a:ext cx="3931920" cy="12801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7653528" y="3017520"/>
            <a:ext cx="3529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53528" y="3447288"/>
            <a:ext cx="35295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Покрытие проекта Mozzaro.Tests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543800" y="4526280"/>
            <a:ext cx="374903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API, Infrastructure и Client требуют дополнительных тестов.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Процесс разработки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02920" y="1828800"/>
            <a:ext cx="2057400" cy="20574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04088" y="1965960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ПЛАН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704088" y="2395728"/>
            <a:ext cx="16550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Требования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2560320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2843784" y="1828800"/>
            <a:ext cx="2057400" cy="20574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3044952" y="1965960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РАЗРАБОТКА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3044952" y="2395728"/>
            <a:ext cx="16550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Реализация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901184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184648" y="1828800"/>
            <a:ext cx="2057400" cy="20574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385816" y="1965960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КОНТРОЛЬ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385816" y="2395728"/>
            <a:ext cx="16550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Статусы Jira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242048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7525512" y="1828800"/>
            <a:ext cx="2057400" cy="20574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7726680" y="1965960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ПРОВЕРКА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7726680" y="2395728"/>
            <a:ext cx="16550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Тесты и проверки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9582912" y="26060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9866376" y="1828800"/>
            <a:ext cx="2057400" cy="205740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10067544" y="1965960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ПУБЛИКАЦИЯ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0067544" y="2395728"/>
            <a:ext cx="165506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 → Render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31520" y="48463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 хранит исходный код и историю проекта.</a:t>
            </a:r>
            <a:endParaRPr/>
          </a:p>
        </p:txBody>
      </p:sp>
      <p:sp>
        <p:nvSpPr>
          <p:cNvPr id="266" name="Google Shape;266;p23">
            <a:hlinkClick r:id="rId3"/>
          </p:cNvPr>
          <p:cNvSpPr txBox="1"/>
          <p:nvPr/>
        </p:nvSpPr>
        <p:spPr>
          <a:xfrm>
            <a:off x="4389120" y="5577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репозиторий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API и развёртывание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0972800" y="64739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731520" y="141732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932688" y="155448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932688" y="1984248"/>
            <a:ext cx="302666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HTTP-запросы связывают клиент и сервер.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4389120" y="141732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4590288" y="155448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ВЕБ-ПРИЛОЖЕНИЕ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4590288" y="1984248"/>
            <a:ext cx="302666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Рабочий сайт размещён на Render.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8046720" y="141732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8247888" y="1554480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БАЗА ДАННЫХ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247888" y="1984248"/>
            <a:ext cx="302666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PostgreSQL размещён на Neon.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Ссылки проекта</a:t>
            </a:r>
            <a:endParaRPr/>
          </a:p>
        </p:txBody>
      </p:sp>
      <p:sp>
        <p:nvSpPr>
          <p:cNvPr id="283" name="Google Shape;283;p24">
            <a:hlinkClick r:id="rId3"/>
          </p:cNvPr>
          <p:cNvSpPr txBox="1"/>
          <p:nvPr/>
        </p:nvSpPr>
        <p:spPr>
          <a:xfrm>
            <a:off x="1097280" y="5669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Сайт</a:t>
            </a:r>
            <a:endParaRPr/>
          </a:p>
        </p:txBody>
      </p:sp>
      <p:sp>
        <p:nvSpPr>
          <p:cNvPr id="284" name="Google Shape;284;p24">
            <a:hlinkClick r:id="rId4"/>
          </p:cNvPr>
          <p:cNvSpPr txBox="1"/>
          <p:nvPr/>
        </p:nvSpPr>
        <p:spPr>
          <a:xfrm>
            <a:off x="3749039" y="5669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285" name="Google Shape;285;p24">
            <a:hlinkClick r:id="rId5"/>
          </p:cNvPr>
          <p:cNvSpPr txBox="1"/>
          <p:nvPr/>
        </p:nvSpPr>
        <p:spPr>
          <a:xfrm>
            <a:off x="6400800" y="5669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Jira</a:t>
            </a:r>
            <a:endParaRPr/>
          </a:p>
        </p:txBody>
      </p:sp>
      <p:sp>
        <p:nvSpPr>
          <p:cNvPr id="286" name="Google Shape;286;p24">
            <a:hlinkClick r:id="rId6"/>
          </p:cNvPr>
          <p:cNvSpPr txBox="1"/>
          <p:nvPr/>
        </p:nvSpPr>
        <p:spPr>
          <a:xfrm>
            <a:off x="8961120" y="5669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SRS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Git и командная работа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731520" y="1463040"/>
            <a:ext cx="3429000" cy="123444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Git + GitHub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История изменений и общий репозиторий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4389120" y="1463040"/>
            <a:ext cx="3429000" cy="123444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Jira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Backlog, задачи и статусы работы</a:t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8046720" y="1463040"/>
            <a:ext cx="3429000" cy="123444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4 роли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Backend, данные, UI, тесты и документация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 хранит исходный код и историю изменений.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051560" y="38862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Jira помогает отслеживать задачи и их статусы.</a:t>
            </a:r>
            <a:endParaRPr/>
          </a:p>
        </p:txBody>
      </p:sp>
      <p:sp>
        <p:nvSpPr>
          <p:cNvPr id="297" name="Google Shape;297;p25">
            <a:hlinkClick r:id="rId3"/>
          </p:cNvPr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репозиторий GitHub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SRS и план разработки</a:t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731520" y="14173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Функциональные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Каталог, корзина, аккаунт и оформление заказа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4389120" y="14173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Нефункциональные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Разделение слоёв, хранение данных, API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8046720" y="1417320"/>
            <a:ext cx="3429000" cy="141732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План работ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Требования → задачи Jira → реализация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914400" y="333756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Требования SRS связаны с задачами и реализованными функциями.</a:t>
            </a:r>
            <a:endParaRPr/>
          </a:p>
        </p:txBody>
      </p:sp>
      <p:sp>
        <p:nvSpPr>
          <p:cNvPr id="307" name="Google Shape;307;p26">
            <a:hlinkClick r:id="rId3"/>
          </p:cNvPr>
          <p:cNvSpPr txBox="1"/>
          <p:nvPr/>
        </p:nvSpPr>
        <p:spPr>
          <a:xfrm>
            <a:off x="914400" y="42976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SRS-документ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API и техническая документация</a:t>
            </a:r>
            <a:endParaRPr/>
          </a:p>
        </p:txBody>
      </p:sp>
      <p:sp>
        <p:nvSpPr>
          <p:cNvPr id="313" name="Google Shape;313;p27"/>
          <p:cNvSpPr/>
          <p:nvPr/>
        </p:nvSpPr>
        <p:spPr>
          <a:xfrm>
            <a:off x="7315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REST API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Клиент взаимодействует с сервером через HTTP</a:t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43891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HTTP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Методы и статус-коды — по реальным эндпоинтам</a:t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80467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Документы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README, SRS и архитектурный файл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Документация проекта и архитектурная схема доступны в репозитории.</a:t>
            </a:r>
            <a:endParaRPr/>
          </a:p>
        </p:txBody>
      </p:sp>
      <p:sp>
        <p:nvSpPr>
          <p:cNvPr id="317" name="Google Shape;317;p27">
            <a:hlinkClick r:id="rId3"/>
          </p:cNvPr>
          <p:cNvSpPr txBox="1"/>
          <p:nvPr/>
        </p:nvSpPr>
        <p:spPr>
          <a:xfrm>
            <a:off x="914400" y="416052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GitHub: код и README</a:t>
            </a:r>
            <a:endParaRPr/>
          </a:p>
        </p:txBody>
      </p:sp>
      <p:sp>
        <p:nvSpPr>
          <p:cNvPr id="318" name="Google Shape;318;p27">
            <a:hlinkClick r:id="rId4"/>
          </p:cNvPr>
          <p:cNvSpPr txBox="1"/>
          <p:nvPr/>
        </p:nvSpPr>
        <p:spPr>
          <a:xfrm>
            <a:off x="914400" y="466344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Архитектура проекта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Качество, запуск и ограничения</a:t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7315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Развёртывание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Сайт размещён на Render; БД — Neon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43891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Тестирование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Текущий общий code coverage — 12%</a:t>
            </a:r>
            <a:endParaRPr/>
          </a:p>
        </p:txBody>
      </p:sp>
      <p:sp>
        <p:nvSpPr>
          <p:cNvPr id="326" name="Google Shape;326;p28"/>
          <p:cNvSpPr/>
          <p:nvPr/>
        </p:nvSpPr>
        <p:spPr>
          <a:xfrm>
            <a:off x="8046720" y="141732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D2B41"/>
          </a:solidFill>
          <a:ln cap="flat" cmpd="sng" w="9525">
            <a:solidFill>
              <a:srgbClr val="445B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201150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Направление улучшения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Увеличить покрытие API, Infrastructure и Client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914400" y="333756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Честно показываем достигнутое и области, требующие доработки.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914400" y="416052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Качество проекта оценивается по тестам, покрытию и стабильности запуска.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D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 txBox="1"/>
          <p:nvPr/>
        </p:nvSpPr>
        <p:spPr>
          <a:xfrm>
            <a:off x="731520" y="640080"/>
            <a:ext cx="685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MOZZARO  /  CRUSTCO</a:t>
            </a:r>
            <a:r>
              <a:rPr b="1" lang="en-US" sz="1300">
                <a:solidFill>
                  <a:srgbClr val="EEF4FA"/>
                </a:solidFill>
              </a:rPr>
              <a:t>R</a:t>
            </a:r>
            <a:r>
              <a:rPr b="1" i="0" lang="en-US" sz="13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731520" y="1417320"/>
            <a:ext cx="6675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Попробуйте идею.</a:t>
            </a:r>
            <a:br>
              <a:rPr b="1" i="0" lang="en-US" sz="3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7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Оцените продукт.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777240" y="3657600"/>
            <a:ext cx="6583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Отсканируйте QR-код, чтобы открыть сайт.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777240" y="50292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  •  Вопросы?</a:t>
            </a:r>
            <a:endParaRPr/>
          </a:p>
        </p:txBody>
      </p:sp>
      <p:pic>
        <p:nvPicPr>
          <p:cNvPr descr="mozzaro_site_qr.png" id="337" name="Google Shape;3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1234440"/>
            <a:ext cx="25603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7818120" y="397763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ОТКРЫТЬ MOZZARO</a:t>
            </a:r>
            <a:endParaRPr/>
          </a:p>
        </p:txBody>
      </p:sp>
      <p:sp>
        <p:nvSpPr>
          <p:cNvPr id="339" name="Google Shape;339;p29">
            <a:hlinkClick r:id="rId4"/>
          </p:cNvPr>
          <p:cNvSpPr txBox="1"/>
          <p:nvPr/>
        </p:nvSpPr>
        <p:spPr>
          <a:xfrm>
            <a:off x="8001000" y="4663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4FA"/>
                </a:solidFill>
                <a:latin typeface="Arial"/>
                <a:ea typeface="Arial"/>
                <a:cs typeface="Arial"/>
                <a:sym typeface="Arial"/>
              </a:rPr>
              <a:t>mozzaro-1.onrender.com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594360" y="54406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EF4FA"/>
                </a:solidFill>
                <a:latin typeface="Play"/>
                <a:ea typeface="Play"/>
                <a:cs typeface="Play"/>
                <a:sym typeface="Play"/>
              </a:rPr>
              <a:t>Свежая пицца. Удобный заказ.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